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2d0e7762dc4c06" /><Relationship Type="http://schemas.openxmlformats.org/officeDocument/2006/relationships/extended-properties" Target="/docProps/app.xml" Id="R81a6fd3de59544c6" /><Relationship Type="http://schemas.openxmlformats.org/officeDocument/2006/relationships/officeDocument" Target="/ppt/presentation.xml" Id="R8bef27af8bfd43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3670416d4f4fef"/>
  </p:sldMasterIdLst>
  <p:notesMasterIdLst>
    <p:notesMasterId xmlns:r="http://schemas.openxmlformats.org/officeDocument/2006/relationships" r:id="R64272de6c1934b25"/>
  </p:notesMasterIdLst>
  <p:sldIdLst>
    <p:sldId xmlns:r="http://schemas.openxmlformats.org/officeDocument/2006/relationships" id="256" r:id="R2cfba5bac801442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0c3bdf364e433c" /><Relationship Type="http://schemas.openxmlformats.org/officeDocument/2006/relationships/slideMaster" Target="/ppt/slideMasters/slideMaster1.xml" Id="R213670416d4f4fef" /><Relationship Type="http://schemas.openxmlformats.org/officeDocument/2006/relationships/notesMaster" Target="/ppt/notesMasters/notesMaster1.xml" Id="R64272de6c1934b25" /><Relationship Type="http://schemas.openxmlformats.org/officeDocument/2006/relationships/presProps" Target="/ppt/presProps.xml" Id="R65cf3e82542e4eae" /><Relationship Type="http://schemas.openxmlformats.org/officeDocument/2006/relationships/tableStyles" Target="/ppt/tableStyles.xml" Id="Rb0b09d23fee4428f" /><Relationship Type="http://schemas.openxmlformats.org/officeDocument/2006/relationships/slide" Target="/ppt/slides/slide1.xml" Id="R2cfba5bac80144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5aab6ed47f4a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9b3a923ae64dc4" /><Relationship Type="http://schemas.openxmlformats.org/officeDocument/2006/relationships/notesMaster" Target="/ppt/notesMasters/notesMaster1.xml" Id="R164c9ef057d546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15a811dea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34ae7416dc4e3c" /><Relationship Type="http://schemas.openxmlformats.org/officeDocument/2006/relationships/slideLayout" Target="/ppt/slideLayouts/slideLayout1.xml" Id="R927c4d9bbd56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7c4d9bbd56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057008f814124" /><Relationship Type="http://schemas.openxmlformats.org/officeDocument/2006/relationships/notesSlide" Target="/ppt/notesSlides/notesSlide1.xml" Id="Rd69639b3bff24d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5E634EA2-F386-4464-8D91-DAD62302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7C00"/>
                </a:solidFill>
              </a:defRPr>
            </a:pPr>
            <a:r>
              <a:rPr sz="3450" b="1">
                <a:solidFill>
                  <a:srgbClr val="F57C00"/>
                </a:solidFill>
              </a:rPr>
              <a:t>서비스 구성도</a:t>
            </a:r>
          </a:p>
        </p:txBody>
      </p:sp>
      <p:sp>
        <p:nvSpPr>
          <p:cNvPr id="2" name="flow-banner">
            <a:extLst xmlns:a="http://schemas.openxmlformats.org/drawingml/2006/main">
              <a:ext uri="{FF2B5EF4-FFF2-40B4-BE49-F238E27FC236}">
                <a16:creationId xmlns:a16="http://schemas.microsoft.com/office/drawing/2014/main" id="{7683A374-9B66-4BEC-90F1-EBC876E1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7200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474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flow-text">
            <a:extLst xmlns:a="http://schemas.openxmlformats.org/drawingml/2006/main">
              <a:ext uri="{FF2B5EF4-FFF2-40B4-BE49-F238E27FC236}">
                <a16:creationId xmlns:a16="http://schemas.microsoft.com/office/drawing/2014/main" id="{6E7737FA-C639-4675-8766-659A6247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00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운송 요청  →  멀티 에이전트 탐색·협상  →  경로 선택·보관</a:t>
            </a:r>
          </a:p>
        </p:txBody>
      </p:sp>
      <p:sp>
        <p:nvSpPr>
          <p:cNvPr id="4" name="frontend">
            <a:extLst xmlns:a="http://schemas.openxmlformats.org/drawingml/2006/main">
              <a:ext uri="{FF2B5EF4-FFF2-40B4-BE49-F238E27FC236}">
                <a16:creationId xmlns:a16="http://schemas.microsoft.com/office/drawing/2014/main" id="{76EFA484-8A3F-43B3-90F5-61161702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14450"/>
            <a:ext cx="2905125" cy="5048250"/>
          </a:xfrm>
          <a:prstGeom xmlns:a="http://schemas.openxmlformats.org/drawingml/2006/main" prst="roundRect">
            <a:avLst>
              <a:gd name="adj" fmla="val 8525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backend">
            <a:extLst xmlns:a="http://schemas.openxmlformats.org/drawingml/2006/main">
              <a:ext uri="{FF2B5EF4-FFF2-40B4-BE49-F238E27FC236}">
                <a16:creationId xmlns:a16="http://schemas.microsoft.com/office/drawing/2014/main" id="{0FC09D29-66DB-423F-A17C-9713A506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19200"/>
            <a:ext cx="3143250" cy="5238750"/>
          </a:xfrm>
          <a:prstGeom xmlns:a="http://schemas.openxmlformats.org/drawingml/2006/main" prst="roundRect">
            <a:avLst>
              <a:gd name="adj" fmla="val 7879"/>
            </a:avLst>
          </a:prstGeom>
          <a:solidFill xmlns:a="http://schemas.openxmlformats.org/drawingml/2006/main">
            <a:srgbClr val="F5FBF6"/>
          </a:solidFill>
          <a:ln xmlns:a="http://schemas.openxmlformats.org/drawingml/2006/main" w="19050">
            <a:solidFill>
              <a:srgbClr val="237A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i">
            <a:extLst xmlns:a="http://schemas.openxmlformats.org/drawingml/2006/main">
              <a:ext uri="{FF2B5EF4-FFF2-40B4-BE49-F238E27FC236}">
                <a16:creationId xmlns:a16="http://schemas.microsoft.com/office/drawing/2014/main" id="{DC344330-F029-4264-B4BC-8D188810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19200"/>
            <a:ext cx="4286250" cy="5238750"/>
          </a:xfrm>
          <a:prstGeom xmlns:a="http://schemas.openxmlformats.org/drawingml/2006/main" prst="roundRect">
            <a:avLst>
              <a:gd name="adj" fmla="val 5778"/>
            </a:avLst>
          </a:prstGeom>
          <a:solidFill xmlns:a="http://schemas.openxmlformats.org/drawingml/2006/main">
            <a:srgbClr val="FAF7FF"/>
          </a:solidFill>
          <a:ln xmlns:a="http://schemas.openxmlformats.org/drawingml/2006/main" w="19050">
            <a:solidFill>
              <a:srgbClr val="512D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verified-data">
            <a:extLst xmlns:a="http://schemas.openxmlformats.org/drawingml/2006/main">
              <a:ext uri="{FF2B5EF4-FFF2-40B4-BE49-F238E27FC236}">
                <a16:creationId xmlns:a16="http://schemas.microsoft.com/office/drawing/2014/main" id="{FCDB67D1-36B0-48B1-8234-69FA01C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247900"/>
            <a:ext cx="2476500" cy="38100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F57C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memory-store">
            <a:extLst xmlns:a="http://schemas.openxmlformats.org/drawingml/2006/main">
              <a:ext uri="{FF2B5EF4-FFF2-40B4-BE49-F238E27FC236}">
                <a16:creationId xmlns:a16="http://schemas.microsoft.com/office/drawing/2014/main" id="{DC5A81E2-6603-4BF1-95E6-E3787B87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705600"/>
            <a:ext cx="3476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BF5"/>
          </a:solidFill>
          <a:ln xmlns:a="http://schemas.openxmlformats.org/drawingml/2006/main" w="19050">
            <a:solidFill>
              <a:srgbClr val="237A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qlite">
            <a:extLst xmlns:a="http://schemas.openxmlformats.org/drawingml/2006/main">
              <a:ext uri="{FF2B5EF4-FFF2-40B4-BE49-F238E27FC236}">
                <a16:creationId xmlns:a16="http://schemas.microsoft.com/office/drawing/2014/main" id="{7F4AE98A-E475-489F-AD32-830B1D8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524750"/>
            <a:ext cx="814387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8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67075" y="38385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headEnd type="arrow" w="sm" len="sm"/>
          </a:ln>
        </p:spPr>
      </p:cxnSp>
      <p:cxnSp>
        <p:nvCxnSpPr>
          <p:cNvPr id="8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00875" y="38385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headEnd type="arrow" w="sm" len="sm"/>
          </a:ln>
        </p:spPr>
      </p:cxnSp>
      <p:cxnSp>
        <p:nvCxnSpPr>
          <p:cNvPr id="86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000875" y="38385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headEnd type="arrow" w="sm" len="sm"/>
          </a:ln>
        </p:spPr>
      </p:cxnSp>
      <p:cxnSp>
        <p:nvCxnSpPr>
          <p:cNvPr id="8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1906250" y="3838575"/>
            <a:ext cx="523875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267075" y="38385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headEnd type="arrow" w="sm" len="sm"/>
          </a:ln>
        </p:spPr>
      </p:cxnSp>
      <p:cxnSp>
        <p:nvCxnSpPr>
          <p:cNvPr id="89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5262563" y="6457950"/>
            <a:ext cx="166688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A35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90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429250" y="6457950"/>
            <a:ext cx="2214563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5C0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91" name=""/>
          <p:cNvCxnSpPr>
            <a:stCxn xmlns:a="http://schemas.openxmlformats.org/drawingml/2006/main" id="7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11715750" y="6057900"/>
            <a:ext cx="1952625" cy="18764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565C0"/>
            </a:solidFill>
            <a:prstDash val="solid"/>
            <a:headEnd type="arrow" w="sm" len="sm"/>
          </a:ln>
        </p:spPr>
      </p:cxnSp>
      <p:sp>
        <p:nvSpPr>
          <p:cNvPr id="18" name="front-heading">
            <a:extLst xmlns:a="http://schemas.openxmlformats.org/drawingml/2006/main">
              <a:ext uri="{FF2B5EF4-FFF2-40B4-BE49-F238E27FC236}">
                <a16:creationId xmlns:a16="http://schemas.microsoft.com/office/drawing/2014/main" id="{965F0D51-6A51-4FDA-B401-DCF1435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65C0"/>
                </a:solidFill>
              </a:defRPr>
            </a:pPr>
            <a:r>
              <a:rPr sz="1875" b="1">
                <a:solidFill>
                  <a:srgbClr val="1565C0"/>
                </a:solidFill>
              </a:rPr>
              <a:t>▣  Frontend (React)</a:t>
            </a:r>
          </a:p>
        </p:txBody>
      </p:sp>
      <p:sp>
        <p:nvSpPr>
          <p:cNvPr id="19" name="scenario-card">
            <a:extLst xmlns:a="http://schemas.openxmlformats.org/drawingml/2006/main">
              <a:ext uri="{FF2B5EF4-FFF2-40B4-BE49-F238E27FC236}">
                <a16:creationId xmlns:a16="http://schemas.microsoft.com/office/drawing/2014/main" id="{F0B3CB06-1FE3-4EF6-A57B-C84DA9B3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57175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B8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cenario-card-title">
            <a:extLst xmlns:a="http://schemas.openxmlformats.org/drawingml/2006/main">
              <a:ext uri="{FF2B5EF4-FFF2-40B4-BE49-F238E27FC236}">
                <a16:creationId xmlns:a16="http://schemas.microsoft.com/office/drawing/2014/main" id="{83DA1E9D-72CF-47C2-852B-3451C08E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28850"/>
            <a:ext cx="2343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65C0"/>
                </a:solidFill>
              </a:defRPr>
            </a:pPr>
            <a:r>
              <a:rPr sz="1500" b="1">
                <a:solidFill>
                  <a:srgbClr val="1565C0"/>
                </a:solidFill>
              </a:rPr>
              <a:t>운송 시나리오</a:t>
            </a:r>
          </a:p>
        </p:txBody>
      </p:sp>
      <p:sp>
        <p:nvSpPr>
          <p:cNvPr id="21" name="scenario-card-body">
            <a:extLst xmlns:a="http://schemas.openxmlformats.org/drawingml/2006/main">
              <a:ext uri="{FF2B5EF4-FFF2-40B4-BE49-F238E27FC236}">
                <a16:creationId xmlns:a16="http://schemas.microsoft.com/office/drawing/2014/main" id="{0265D488-1789-4DC2-9E26-CC01856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2286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• 운송 조건 입력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• 진행 상태 조회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• 후보 경로 비교·선택</a:t>
            </a:r>
          </a:p>
        </p:txBody>
      </p:sp>
      <p:sp>
        <p:nvSpPr>
          <p:cNvPr id="22" name="saved-card">
            <a:extLst xmlns:a="http://schemas.openxmlformats.org/drawingml/2006/main">
              <a:ext uri="{FF2B5EF4-FFF2-40B4-BE49-F238E27FC236}">
                <a16:creationId xmlns:a16="http://schemas.microsoft.com/office/drawing/2014/main" id="{E2EACA21-C893-4C5D-A388-E7CA863B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76725"/>
            <a:ext cx="257175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B8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aved-card-title">
            <a:extLst xmlns:a="http://schemas.openxmlformats.org/drawingml/2006/main">
              <a:ext uri="{FF2B5EF4-FFF2-40B4-BE49-F238E27FC236}">
                <a16:creationId xmlns:a16="http://schemas.microsoft.com/office/drawing/2014/main" id="{308DD206-1DC3-4F8A-9AF4-868BAEB6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52925"/>
            <a:ext cx="2343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65C0"/>
                </a:solidFill>
              </a:defRPr>
            </a:pPr>
            <a:r>
              <a:rPr sz="1500" b="1">
                <a:solidFill>
                  <a:srgbClr val="1565C0"/>
                </a:solidFill>
              </a:rPr>
              <a:t>제안서 보관함</a:t>
            </a:r>
          </a:p>
        </p:txBody>
      </p:sp>
      <p:sp>
        <p:nvSpPr>
          <p:cNvPr id="24" name="saved-card-body">
            <a:extLst xmlns:a="http://schemas.openxmlformats.org/drawingml/2006/main">
              <a:ext uri="{FF2B5EF4-FFF2-40B4-BE49-F238E27FC236}">
                <a16:creationId xmlns:a16="http://schemas.microsoft.com/office/drawing/2014/main" id="{FC37871F-3855-4A9A-8268-0AEDACC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28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• 선택 경로 저장·조회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• 즐겨찾기·삭제</a:t>
            </a:r>
          </a:p>
        </p:txBody>
      </p:sp>
      <p:sp>
        <p:nvSpPr>
          <p:cNvPr id="25" name="back-heading">
            <a:extLst xmlns:a="http://schemas.openxmlformats.org/drawingml/2006/main">
              <a:ext uri="{FF2B5EF4-FFF2-40B4-BE49-F238E27FC236}">
                <a16:creationId xmlns:a16="http://schemas.microsoft.com/office/drawing/2014/main" id="{C1BCF0CD-905B-457C-943D-55F0333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7A35"/>
                </a:solidFill>
              </a:defRPr>
            </a:pPr>
            <a:r>
              <a:rPr sz="1875" b="1">
                <a:solidFill>
                  <a:srgbClr val="237A35"/>
                </a:solidFill>
              </a:rPr>
              <a:t>⚙  Backend (FastAPI)</a:t>
            </a:r>
          </a:p>
        </p:txBody>
      </p:sp>
      <p:sp>
        <p:nvSpPr>
          <p:cNvPr id="26" name="run-api">
            <a:extLst xmlns:a="http://schemas.openxmlformats.org/drawingml/2006/main">
              <a:ext uri="{FF2B5EF4-FFF2-40B4-BE49-F238E27FC236}">
                <a16:creationId xmlns:a16="http://schemas.microsoft.com/office/drawing/2014/main" id="{30B58D33-A168-488C-A80E-4EF7A58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85950"/>
            <a:ext cx="2762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2B9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run-api-title">
            <a:extLst xmlns:a="http://schemas.openxmlformats.org/drawingml/2006/main">
              <a:ext uri="{FF2B5EF4-FFF2-40B4-BE49-F238E27FC236}">
                <a16:creationId xmlns:a16="http://schemas.microsoft.com/office/drawing/2014/main" id="{294DF5D6-6FC8-40EC-9E49-A29521A7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62150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7A35"/>
                </a:solidFill>
              </a:defRPr>
            </a:pPr>
            <a:r>
              <a:rPr sz="1500" b="1">
                <a:solidFill>
                  <a:srgbClr val="237A35"/>
                </a:solidFill>
              </a:rPr>
              <a:t>시나리오 실행 API</a:t>
            </a:r>
          </a:p>
        </p:txBody>
      </p:sp>
      <p:sp>
        <p:nvSpPr>
          <p:cNvPr id="28" name="run-api-body">
            <a:extLst xmlns:a="http://schemas.openxmlformats.org/drawingml/2006/main">
              <a:ext uri="{FF2B5EF4-FFF2-40B4-BE49-F238E27FC236}">
                <a16:creationId xmlns:a16="http://schemas.microsoft.com/office/drawing/2014/main" id="{08F706A6-0431-4919-A8F4-8E4CB9F5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57425"/>
            <a:ext cx="2476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GET   /nodes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POST  /negotiate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GET   /negotiate/{request_id}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POST  /negotiate/{request_id}/save</a:t>
            </a:r>
          </a:p>
        </p:txBody>
      </p:sp>
      <p:sp>
        <p:nvSpPr>
          <p:cNvPr id="29" name="saved-api">
            <a:extLst xmlns:a="http://schemas.openxmlformats.org/drawingml/2006/main">
              <a:ext uri="{FF2B5EF4-FFF2-40B4-BE49-F238E27FC236}">
                <a16:creationId xmlns:a16="http://schemas.microsoft.com/office/drawing/2014/main" id="{728A8189-5C56-4770-AB7F-17C33CD2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38575"/>
            <a:ext cx="2762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2B9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saved-api-title">
            <a:extLst xmlns:a="http://schemas.openxmlformats.org/drawingml/2006/main">
              <a:ext uri="{FF2B5EF4-FFF2-40B4-BE49-F238E27FC236}">
                <a16:creationId xmlns:a16="http://schemas.microsoft.com/office/drawing/2014/main" id="{1A802FE9-1022-4CF3-BC8D-F7C38F76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147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7A35"/>
                </a:solidFill>
              </a:defRPr>
            </a:pPr>
            <a:r>
              <a:rPr sz="1500" b="1">
                <a:solidFill>
                  <a:srgbClr val="237A35"/>
                </a:solidFill>
              </a:rPr>
              <a:t>제안서 보관 API</a:t>
            </a:r>
          </a:p>
        </p:txBody>
      </p:sp>
      <p:sp>
        <p:nvSpPr>
          <p:cNvPr id="31" name="saved-api-body">
            <a:extLst xmlns:a="http://schemas.openxmlformats.org/drawingml/2006/main">
              <a:ext uri="{FF2B5EF4-FFF2-40B4-BE49-F238E27FC236}">
                <a16:creationId xmlns:a16="http://schemas.microsoft.com/office/drawing/2014/main" id="{8106DFBF-A308-47DE-9BFA-940C6F7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0050"/>
            <a:ext cx="2476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GET     /saved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GET     /saved/{scenario_id}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PATCH  /saved/{scenario_id}/favorite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DELETE /saved/{scenario_id}</a:t>
            </a:r>
          </a:p>
        </p:txBody>
      </p:sp>
      <p:sp>
        <p:nvSpPr>
          <p:cNvPr id="32" name="api-base">
            <a:extLst xmlns:a="http://schemas.openxmlformats.org/drawingml/2006/main">
              <a:ext uri="{FF2B5EF4-FFF2-40B4-BE49-F238E27FC236}">
                <a16:creationId xmlns:a16="http://schemas.microsoft.com/office/drawing/2014/main" id="{F01204AE-BA87-4BD9-BCF2-DD6C823B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57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Base: /api/scenarios/yum</a:t>
            </a:r>
          </a:p>
        </p:txBody>
      </p:sp>
      <p:sp>
        <p:nvSpPr>
          <p:cNvPr id="33" name="backend-process">
            <a:extLst xmlns:a="http://schemas.openxmlformats.org/drawingml/2006/main">
              <a:ext uri="{FF2B5EF4-FFF2-40B4-BE49-F238E27FC236}">
                <a16:creationId xmlns:a16="http://schemas.microsoft.com/office/drawing/2014/main" id="{4F07686B-F934-4CCC-9C44-2E18148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9245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✓ 입력·제약조건 검증    ↻ 비동기 작업·Polling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▣ 결과 변환·시나리오 저장</a:t>
            </a:r>
          </a:p>
        </p:txBody>
      </p:sp>
      <p:sp>
        <p:nvSpPr>
          <p:cNvPr id="34" name="rest-label">
            <a:extLst xmlns:a="http://schemas.openxmlformats.org/drawingml/2006/main">
              <a:ext uri="{FF2B5EF4-FFF2-40B4-BE49-F238E27FC236}">
                <a16:creationId xmlns:a16="http://schemas.microsoft.com/office/drawing/2014/main" id="{F251E76F-1A08-496C-BDA5-6FF7A658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33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REST API</a:t>
            </a:r>
          </a:p>
        </p:txBody>
      </p:sp>
      <p:sp>
        <p:nvSpPr>
          <p:cNvPr id="35" name="request-label">
            <a:extLst xmlns:a="http://schemas.openxmlformats.org/drawingml/2006/main">
              <a:ext uri="{FF2B5EF4-FFF2-40B4-BE49-F238E27FC236}">
                <a16:creationId xmlns:a16="http://schemas.microsoft.com/office/drawing/2014/main" id="{58F2F96B-3F31-42E4-88FC-E51396A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구조화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실행 요청</a:t>
            </a:r>
          </a:p>
        </p:txBody>
      </p:sp>
      <p:sp>
        <p:nvSpPr>
          <p:cNvPr id="36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A7CE4A05-75D6-4F79-8B7B-0552489A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76750"/>
            <a:ext cx="57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진행 이벤트·추천 경로</a:t>
            </a:r>
          </a:p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/ 상태·결과 응답</a:t>
            </a:r>
          </a:p>
        </p:txBody>
      </p:sp>
      <p:sp>
        <p:nvSpPr>
          <p:cNvPr id="37" name="ai-heading">
            <a:extLst xmlns:a="http://schemas.openxmlformats.org/drawingml/2006/main">
              <a:ext uri="{FF2B5EF4-FFF2-40B4-BE49-F238E27FC236}">
                <a16:creationId xmlns:a16="http://schemas.microsoft.com/office/drawing/2014/main" id="{9E9962AE-0654-4FA7-A858-414D7A9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12DA8"/>
                </a:solidFill>
              </a:defRPr>
            </a:pPr>
            <a:r>
              <a:rPr sz="1950" b="1">
                <a:solidFill>
                  <a:srgbClr val="512DA8"/>
                </a:solidFill>
              </a:rPr>
              <a:t>▣  AI (Multi-Agent)</a:t>
            </a:r>
          </a:p>
        </p:txBody>
      </p:sp>
      <p:sp>
        <p:nvSpPr>
          <p:cNvPr id="38" name="glovis-agent">
            <a:extLst xmlns:a="http://schemas.openxmlformats.org/drawingml/2006/main">
              <a:ext uri="{FF2B5EF4-FFF2-40B4-BE49-F238E27FC236}">
                <a16:creationId xmlns:a16="http://schemas.microsoft.com/office/drawing/2014/main" id="{26F3F4D6-C8CB-477F-9042-EC2A2F10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048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6C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glovis-agent-title">
            <a:extLst xmlns:a="http://schemas.openxmlformats.org/drawingml/2006/main">
              <a:ext uri="{FF2B5EF4-FFF2-40B4-BE49-F238E27FC236}">
                <a16:creationId xmlns:a16="http://schemas.microsoft.com/office/drawing/2014/main" id="{E58D8A2F-6133-4404-8DE0-F8296ACF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2882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12DA8"/>
                </a:solidFill>
              </a:defRPr>
            </a:pPr>
            <a:r>
              <a:rPr sz="1500" b="1">
                <a:solidFill>
                  <a:srgbClr val="512DA8"/>
                </a:solidFill>
              </a:rPr>
              <a:t>Glovis Agent</a:t>
            </a:r>
          </a:p>
        </p:txBody>
      </p:sp>
      <p:sp>
        <p:nvSpPr>
          <p:cNvPr id="40" name="glovis-agent-body">
            <a:extLst xmlns:a="http://schemas.openxmlformats.org/drawingml/2006/main">
              <a:ext uri="{FF2B5EF4-FFF2-40B4-BE49-F238E27FC236}">
                <a16:creationId xmlns:a16="http://schemas.microsoft.com/office/drawing/2014/main" id="{A399E16D-0F83-47C6-BC96-603C769A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경로 조정 · 자사 구간 판단</a:t>
            </a:r>
          </a:p>
        </p:txBody>
      </p:sp>
      <p:sp>
        <p:nvSpPr>
          <p:cNvPr id="41" name="route-search">
            <a:extLst xmlns:a="http://schemas.openxmlformats.org/drawingml/2006/main">
              <a:ext uri="{FF2B5EF4-FFF2-40B4-BE49-F238E27FC236}">
                <a16:creationId xmlns:a16="http://schemas.microsoft.com/office/drawing/2014/main" id="{A2335BD9-1591-4F1E-9900-A1E645C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1190625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6C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route-search-title">
            <a:extLst xmlns:a="http://schemas.openxmlformats.org/drawingml/2006/main">
              <a:ext uri="{FF2B5EF4-FFF2-40B4-BE49-F238E27FC236}">
                <a16:creationId xmlns:a16="http://schemas.microsoft.com/office/drawing/2014/main" id="{D14971B2-BE82-4CB9-9B20-6E46517E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14700"/>
            <a:ext cx="962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12DA8"/>
                </a:solidFill>
              </a:defRPr>
            </a:pPr>
            <a:r>
              <a:rPr sz="1500" b="1">
                <a:solidFill>
                  <a:srgbClr val="512DA8"/>
                </a:solidFill>
              </a:rPr>
              <a:t>Route Search</a:t>
            </a:r>
          </a:p>
        </p:txBody>
      </p:sp>
      <p:sp>
        <p:nvSpPr>
          <p:cNvPr id="43" name="route-search-body">
            <a:extLst xmlns:a="http://schemas.openxmlformats.org/drawingml/2006/main">
              <a:ext uri="{FF2B5EF4-FFF2-40B4-BE49-F238E27FC236}">
                <a16:creationId xmlns:a16="http://schemas.microsoft.com/office/drawing/2014/main" id="{9A3EDC91-A1E7-49D7-871C-EA29A3AF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99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후보 경로·납기 검증</a:t>
            </a:r>
          </a:p>
        </p:txBody>
      </p:sp>
      <p:sp>
        <p:nvSpPr>
          <p:cNvPr id="44" name="carrier-agent">
            <a:extLst xmlns:a="http://schemas.openxmlformats.org/drawingml/2006/main">
              <a:ext uri="{FF2B5EF4-FFF2-40B4-BE49-F238E27FC236}">
                <a16:creationId xmlns:a16="http://schemas.microsoft.com/office/drawing/2014/main" id="{77C8B31B-A875-4C98-A4D6-0C10B1A7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23825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6C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carrier-agent-title">
            <a:extLst xmlns:a="http://schemas.openxmlformats.org/drawingml/2006/main">
              <a:ext uri="{FF2B5EF4-FFF2-40B4-BE49-F238E27FC236}">
                <a16:creationId xmlns:a16="http://schemas.microsoft.com/office/drawing/2014/main" id="{AD2A6505-9001-419F-8DF5-2181D538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314700"/>
            <a:ext cx="1009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12DA8"/>
                </a:solidFill>
              </a:defRPr>
            </a:pPr>
            <a:r>
              <a:rPr sz="1500" b="1">
                <a:solidFill>
                  <a:srgbClr val="512DA8"/>
                </a:solidFill>
              </a:rPr>
              <a:t>Carrier Agent</a:t>
            </a:r>
          </a:p>
        </p:txBody>
      </p:sp>
      <p:sp>
        <p:nvSpPr>
          <p:cNvPr id="46" name="carrier-agent-body">
            <a:extLst xmlns:a="http://schemas.openxmlformats.org/drawingml/2006/main">
              <a:ext uri="{FF2B5EF4-FFF2-40B4-BE49-F238E27FC236}">
                <a16:creationId xmlns:a16="http://schemas.microsoft.com/office/drawing/2014/main" id="{5DEB476B-F4E1-48FE-8E38-17285798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09975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운송사별 제안·협상</a:t>
            </a:r>
          </a:p>
        </p:txBody>
      </p:sp>
      <p:sp>
        <p:nvSpPr>
          <p:cNvPr id="47" name="ollama">
            <a:extLst xmlns:a="http://schemas.openxmlformats.org/drawingml/2006/main">
              <a:ext uri="{FF2B5EF4-FFF2-40B4-BE49-F238E27FC236}">
                <a16:creationId xmlns:a16="http://schemas.microsoft.com/office/drawing/2014/main" id="{542812D9-F426-416D-AE4D-621D2463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1190625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6C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ollama-title">
            <a:extLst xmlns:a="http://schemas.openxmlformats.org/drawingml/2006/main">
              <a:ext uri="{FF2B5EF4-FFF2-40B4-BE49-F238E27FC236}">
                <a16:creationId xmlns:a16="http://schemas.microsoft.com/office/drawing/2014/main" id="{E0BAC0D9-A4BA-4C78-A725-80C52A1B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14700"/>
            <a:ext cx="962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12DA8"/>
                </a:solidFill>
              </a:defRPr>
            </a:pPr>
            <a:r>
              <a:rPr sz="1500" b="1">
                <a:solidFill>
                  <a:srgbClr val="512DA8"/>
                </a:solidFill>
              </a:rPr>
              <a:t>Ollama LLM</a:t>
            </a:r>
          </a:p>
        </p:txBody>
      </p:sp>
      <p:sp>
        <p:nvSpPr>
          <p:cNvPr id="49" name="ollama-body">
            <a:extLst xmlns:a="http://schemas.openxmlformats.org/drawingml/2006/main">
              <a:ext uri="{FF2B5EF4-FFF2-40B4-BE49-F238E27FC236}">
                <a16:creationId xmlns:a16="http://schemas.microsoft.com/office/drawing/2014/main" id="{2BDC5704-34A8-4DD5-99B1-A8B4BE0D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099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협상 판단·JSON 응답</a:t>
            </a:r>
          </a:p>
        </p:txBody>
      </p:sp>
      <p:sp>
        <p:nvSpPr>
          <p:cNvPr id="50" name="grounding">
            <a:extLst xmlns:a="http://schemas.openxmlformats.org/drawingml/2006/main">
              <a:ext uri="{FF2B5EF4-FFF2-40B4-BE49-F238E27FC236}">
                <a16:creationId xmlns:a16="http://schemas.microsoft.com/office/drawing/2014/main" id="{7ACA6F95-1FCB-4529-9CBC-2D670575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52950"/>
            <a:ext cx="1476375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6C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grounding-title">
            <a:extLst xmlns:a="http://schemas.openxmlformats.org/drawingml/2006/main">
              <a:ext uri="{FF2B5EF4-FFF2-40B4-BE49-F238E27FC236}">
                <a16:creationId xmlns:a16="http://schemas.microsoft.com/office/drawing/2014/main" id="{9710C814-AFB5-4A48-87E0-2854D164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291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12DA8"/>
                </a:solidFill>
              </a:defRPr>
            </a:pPr>
            <a:r>
              <a:rPr sz="1500" b="1">
                <a:solidFill>
                  <a:srgbClr val="512DA8"/>
                </a:solidFill>
              </a:rPr>
              <a:t>Grounding</a:t>
            </a:r>
          </a:p>
        </p:txBody>
      </p:sp>
      <p:sp>
        <p:nvSpPr>
          <p:cNvPr id="52" name="grounding-body">
            <a:extLst xmlns:a="http://schemas.openxmlformats.org/drawingml/2006/main">
              <a:ext uri="{FF2B5EF4-FFF2-40B4-BE49-F238E27FC236}">
                <a16:creationId xmlns:a16="http://schemas.microsoft.com/office/drawing/2014/main" id="{15718CB9-B505-4CF9-AA72-72122871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244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협상값 ↔ 원본 운임 검증</a:t>
            </a:r>
          </a:p>
        </p:txBody>
      </p:sp>
      <p:sp>
        <p:nvSpPr>
          <p:cNvPr id="53" name="result-ranking">
            <a:extLst xmlns:a="http://schemas.openxmlformats.org/drawingml/2006/main">
              <a:ext uri="{FF2B5EF4-FFF2-40B4-BE49-F238E27FC236}">
                <a16:creationId xmlns:a16="http://schemas.microsoft.com/office/drawing/2014/main" id="{8030A28C-6EA1-421D-98C4-8C87E008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2095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6C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result-ranking-title">
            <a:extLst xmlns:a="http://schemas.openxmlformats.org/drawingml/2006/main">
              <a:ext uri="{FF2B5EF4-FFF2-40B4-BE49-F238E27FC236}">
                <a16:creationId xmlns:a16="http://schemas.microsoft.com/office/drawing/2014/main" id="{84A6278B-1E3E-4095-8BA6-4E8C822F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387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12DA8"/>
                </a:solidFill>
              </a:defRPr>
            </a:pPr>
            <a:r>
              <a:rPr sz="1500" b="1">
                <a:solidFill>
                  <a:srgbClr val="512DA8"/>
                </a:solidFill>
              </a:rPr>
              <a:t>Result Ranking</a:t>
            </a:r>
          </a:p>
        </p:txBody>
      </p:sp>
      <p:sp>
        <p:nvSpPr>
          <p:cNvPr id="55" name="result-ranking-body">
            <a:extLst xmlns:a="http://schemas.openxmlformats.org/drawingml/2006/main">
              <a:ext uri="{FF2B5EF4-FFF2-40B4-BE49-F238E27FC236}">
                <a16:creationId xmlns:a16="http://schemas.microsoft.com/office/drawing/2014/main" id="{764435EE-BFD9-41AD-BF57-F9B41F25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339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비용 · 시간 · 탄소 · 신뢰도</a:t>
            </a:r>
          </a:p>
        </p:txBody>
      </p:sp>
      <p:cxnSp>
        <p:nvCxnSpPr>
          <p:cNvPr id="130" name=""/>
          <p:cNvCxnSpPr>
            <a:stCxn xmlns:a="http://schemas.openxmlformats.org/drawingml/2006/main" id="38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8453438" y="2733675"/>
            <a:ext cx="1309688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2DA8"/>
            </a:solidFill>
            <a:prstDash val="solid"/>
            <a:headEnd type="arrow" w="sm" len="sm"/>
          </a:ln>
        </p:spPr>
      </p:cxnSp>
      <p:cxnSp>
        <p:nvCxnSpPr>
          <p:cNvPr id="131" name=""/>
          <p:cNvCxnSpPr>
            <a:stCxn xmlns:a="http://schemas.openxmlformats.org/drawingml/2006/main" id="38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9763125" y="2733675"/>
            <a:ext cx="4762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2DA8"/>
            </a:solidFill>
            <a:prstDash val="solid"/>
            <a:headEnd type="arrow" w="sm" len="sm"/>
          </a:ln>
        </p:spPr>
      </p:cxnSp>
      <p:cxnSp>
        <p:nvCxnSpPr>
          <p:cNvPr id="132" name="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0429875" y="3738563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2DA8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133" name=""/>
          <p:cNvCxnSpPr>
            <a:stCxn xmlns:a="http://schemas.openxmlformats.org/drawingml/2006/main" id="41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8453438" y="4238625"/>
            <a:ext cx="2214563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12DA8"/>
            </a:solidFill>
            <a:prstDash val="solid"/>
            <a:headEnd type="arrow" w="sm" len="sm"/>
          </a:ln>
        </p:spPr>
      </p:cxnSp>
      <p:cxnSp>
        <p:nvCxnSpPr>
          <p:cNvPr id="134" name=""/>
          <p:cNvCxnSpPr>
            <a:stCxn xmlns:a="http://schemas.openxmlformats.org/drawingml/2006/main" id="44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9810750" y="4238625"/>
            <a:ext cx="8572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12DA8"/>
            </a:solidFill>
            <a:prstDash val="solid"/>
            <a:headEnd type="arrow" w="sm" len="sm"/>
          </a:ln>
        </p:spPr>
      </p:cxn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9334500" y="5005388"/>
            <a:ext cx="285750" cy="1952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2DA8"/>
            </a:solidFill>
            <a:prstDash val="solid"/>
            <a:headEnd type="arrow" w="sm" len="sm"/>
          </a:ln>
        </p:spPr>
      </p:cxnSp>
      <p:sp>
        <p:nvSpPr>
          <p:cNvPr id="62" name="data-heading">
            <a:extLst xmlns:a="http://schemas.openxmlformats.org/drawingml/2006/main">
              <a:ext uri="{FF2B5EF4-FFF2-40B4-BE49-F238E27FC236}">
                <a16:creationId xmlns:a16="http://schemas.microsoft.com/office/drawing/2014/main" id="{4725835E-F4A0-4C4E-82B6-C4CCCE13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4765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7C00"/>
                </a:solidFill>
              </a:defRPr>
            </a:pPr>
            <a:r>
              <a:rPr sz="2025" b="1">
                <a:solidFill>
                  <a:srgbClr val="F57C00"/>
                </a:solidFill>
              </a:rPr>
              <a:t>▣  검증 데이터</a:t>
            </a:r>
          </a:p>
        </p:txBody>
      </p:sp>
      <p:sp>
        <p:nvSpPr>
          <p:cNvPr id="63" name="carrier-data">
            <a:extLst xmlns:a="http://schemas.openxmlformats.org/drawingml/2006/main">
              <a:ext uri="{FF2B5EF4-FFF2-40B4-BE49-F238E27FC236}">
                <a16:creationId xmlns:a16="http://schemas.microsoft.com/office/drawing/2014/main" id="{E628A143-4641-49C2-B05E-93B2287D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143250"/>
            <a:ext cx="20955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A6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4" name="carrier-data-title">
            <a:extLst xmlns:a="http://schemas.openxmlformats.org/drawingml/2006/main">
              <a:ext uri="{FF2B5EF4-FFF2-40B4-BE49-F238E27FC236}">
                <a16:creationId xmlns:a16="http://schemas.microsoft.com/office/drawing/2014/main" id="{5B8F6BD0-BF03-4DE5-A7AB-983D6AA4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321945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7C00"/>
                </a:solidFill>
              </a:defRPr>
            </a:pPr>
            <a:r>
              <a:rPr sz="1500" b="1">
                <a:solidFill>
                  <a:srgbClr val="F57C00"/>
                </a:solidFill>
              </a:rPr>
              <a:t>운송사 데이터</a:t>
            </a:r>
          </a:p>
        </p:txBody>
      </p:sp>
      <p:sp>
        <p:nvSpPr>
          <p:cNvPr id="65" name="carrier-data-body">
            <a:extLst xmlns:a="http://schemas.openxmlformats.org/drawingml/2006/main">
              <a:ext uri="{FF2B5EF4-FFF2-40B4-BE49-F238E27FC236}">
                <a16:creationId xmlns:a16="http://schemas.microsoft.com/office/drawing/2014/main" id="{7FBF9F30-8131-4A44-91C7-2431F0BD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5147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운임 · 용량 · 서비스</a:t>
            </a:r>
          </a:p>
        </p:txBody>
      </p:sp>
      <p:sp>
        <p:nvSpPr>
          <p:cNvPr id="66" name="rule-data">
            <a:extLst xmlns:a="http://schemas.openxmlformats.org/drawingml/2006/main">
              <a:ext uri="{FF2B5EF4-FFF2-40B4-BE49-F238E27FC236}">
                <a16:creationId xmlns:a16="http://schemas.microsoft.com/office/drawing/2014/main" id="{ECB9B4A4-8FE9-4578-BA60-5E13D3C1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171950"/>
            <a:ext cx="20955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A6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7" name="rule-data-title">
            <a:extLst xmlns:a="http://schemas.openxmlformats.org/drawingml/2006/main">
              <a:ext uri="{FF2B5EF4-FFF2-40B4-BE49-F238E27FC236}">
                <a16:creationId xmlns:a16="http://schemas.microsoft.com/office/drawing/2014/main" id="{2375EB3B-268D-4499-BF46-BDFB99F6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24815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7C00"/>
                </a:solidFill>
              </a:defRPr>
            </a:pPr>
            <a:r>
              <a:rPr sz="1500" b="1">
                <a:solidFill>
                  <a:srgbClr val="F57C00"/>
                </a:solidFill>
              </a:rPr>
              <a:t>운송 규칙</a:t>
            </a:r>
          </a:p>
        </p:txBody>
      </p:sp>
      <p:sp>
        <p:nvSpPr>
          <p:cNvPr id="68" name="rule-data-body">
            <a:extLst xmlns:a="http://schemas.openxmlformats.org/drawingml/2006/main">
              <a:ext uri="{FF2B5EF4-FFF2-40B4-BE49-F238E27FC236}">
                <a16:creationId xmlns:a16="http://schemas.microsoft.com/office/drawing/2014/main" id="{B8A09CA6-ADA0-44FC-BD51-BB951CFB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543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항만 · 환적 · 통관</a:t>
            </a:r>
          </a:p>
        </p:txBody>
      </p:sp>
      <p:sp>
        <p:nvSpPr>
          <p:cNvPr id="69" name="history-data">
            <a:extLst xmlns:a="http://schemas.openxmlformats.org/drawingml/2006/main">
              <a:ext uri="{FF2B5EF4-FFF2-40B4-BE49-F238E27FC236}">
                <a16:creationId xmlns:a16="http://schemas.microsoft.com/office/drawing/2014/main" id="{9C9BC108-4006-4FA5-B15B-D38FC098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200650"/>
            <a:ext cx="2095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A6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0" name="history-data-title">
            <a:extLst xmlns:a="http://schemas.openxmlformats.org/drawingml/2006/main">
              <a:ext uri="{FF2B5EF4-FFF2-40B4-BE49-F238E27FC236}">
                <a16:creationId xmlns:a16="http://schemas.microsoft.com/office/drawing/2014/main" id="{2E120CA9-C07F-4D9A-8345-35875752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527685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7C00"/>
                </a:solidFill>
              </a:defRPr>
            </a:pPr>
            <a:r>
              <a:rPr sz="1500" b="1">
                <a:solidFill>
                  <a:srgbClr val="F57C00"/>
                </a:solidFill>
              </a:rPr>
              <a:t>과거 이력</a:t>
            </a:r>
          </a:p>
        </p:txBody>
      </p:sp>
      <p:sp>
        <p:nvSpPr>
          <p:cNvPr id="71" name="history-data-body">
            <a:extLst xmlns:a="http://schemas.openxmlformats.org/drawingml/2006/main">
              <a:ext uri="{FF2B5EF4-FFF2-40B4-BE49-F238E27FC236}">
                <a16:creationId xmlns:a16="http://schemas.microsoft.com/office/drawing/2014/main" id="{DD2385D5-B894-466F-BB85-1E8C6396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572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운송 완료 데이터</a:t>
            </a:r>
          </a:p>
        </p:txBody>
      </p:sp>
      <p:sp>
        <p:nvSpPr>
          <p:cNvPr id="72" name="memory-text">
            <a:extLst xmlns:a="http://schemas.openxmlformats.org/drawingml/2006/main">
              <a:ext uri="{FF2B5EF4-FFF2-40B4-BE49-F238E27FC236}">
                <a16:creationId xmlns:a16="http://schemas.microsoft.com/office/drawing/2014/main" id="{9C3E61BF-E35E-4E81-94D3-FCBDB73B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772275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▣  In-memory Job Store  |  진행 상태·이벤트</a:t>
            </a:r>
          </a:p>
        </p:txBody>
      </p:sp>
      <p:sp>
        <p:nvSpPr>
          <p:cNvPr id="73" name="db-title">
            <a:extLst xmlns:a="http://schemas.openxmlformats.org/drawingml/2006/main">
              <a:ext uri="{FF2B5EF4-FFF2-40B4-BE49-F238E27FC236}">
                <a16:creationId xmlns:a16="http://schemas.microsoft.com/office/drawing/2014/main" id="{9BE82611-72A9-4FC2-9F9F-924DD55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6104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65C0"/>
                </a:solidFill>
              </a:defRPr>
            </a:pPr>
            <a:r>
              <a:rPr sz="2025" b="1">
                <a:solidFill>
                  <a:srgbClr val="1565C0"/>
                </a:solidFill>
              </a:rPr>
              <a:t>▣  SQLite · glovis_merged.db</a:t>
            </a:r>
          </a:p>
        </p:txBody>
      </p:sp>
      <p:sp>
        <p:nvSpPr>
          <p:cNvPr id="74" name="db-body">
            <a:extLst xmlns:a="http://schemas.openxmlformats.org/drawingml/2006/main">
              <a:ext uri="{FF2B5EF4-FFF2-40B4-BE49-F238E27FC236}">
                <a16:creationId xmlns:a16="http://schemas.microsoft.com/office/drawing/2014/main" id="{D0D9948F-D66E-4D5D-98D1-51A1595E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9914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운송 역량 · 선택 시나리오 · 즐겨찾기 · 운송 이력 · 검증 결과</a:t>
            </a:r>
          </a:p>
        </p:txBody>
      </p:sp>
    </p:spTree>
    <p:extLst>
      <p:ext uri="{BB962C8B-B14F-4D97-AF65-F5344CB8AC3E}">
        <p14:creationId xmlns:p14="http://schemas.microsoft.com/office/powerpoint/2010/main" val="1090190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2026-08-13T05:36:09.6000000Z</dcterms:created>
  <dcterms:modified xsi:type="dcterms:W3CDTF">2026-08-13T05:36:09.6000000Z</dcterms:modified>
</coreProperties>
</file>